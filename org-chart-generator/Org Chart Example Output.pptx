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6264-EAF5-5406-A980-7D4B1AB0F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C2D1-C969-14EE-0AED-A75DE127B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0FF97-D7C9-7524-D21C-2EA75DB83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447E-B38D-4D83-BB90-0CBD777036F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99EF0-477C-01F4-FFC1-B24F90138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1831B-EA14-C3A2-C68C-1E68AE085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C42EA-FAD3-411B-B061-B8A108B9F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0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9F47C-DFD2-9842-C731-033F185B2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BE245-4924-75CD-E0BD-4212A8B64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3401C-F222-F1D1-9768-0D79834EE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447E-B38D-4D83-BB90-0CBD777036F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A4685-FE0C-13AF-35A7-4CF039A49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96B96-B8FE-EDCB-4BBB-D633325EA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C42EA-FAD3-411B-B061-B8A108B9F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1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F9D0-FBBB-A3BD-536A-55232C22F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3F7E5-AC5E-E2DE-F90A-9FB8A789F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49A3E-BBE4-6582-00E8-E5E314949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447E-B38D-4D83-BB90-0CBD777036F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D3A1D-9CDC-6994-E9CA-85A2D6B76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D18ED-E2A9-9889-941F-A2AB3D058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C42EA-FAD3-411B-B061-B8A108B9F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31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90FE-7288-4E88-6731-CC705DF6F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91DFC-B79A-06C3-946B-3EE7D47F5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6D5218-043F-760D-00F5-4FA1AC922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E5EE8-5CDF-48BB-814D-02DBF8845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447E-B38D-4D83-BB90-0CBD777036F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56E4B-F98E-EAD6-F7B1-2608FC9B0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16BDB-A761-EF65-6FBE-C4DDABF9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C42EA-FAD3-411B-B061-B8A108B9F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26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7113D-8967-6B6B-1698-461BB72BC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65845-989D-5729-FA49-9972C2500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D2087-4CCE-CA2B-0D1C-F5DF8F01C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C1FBC3-AA5D-EE65-06B2-E3B16E920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E24448-C4E8-DE76-FD8B-0A9E853FE9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636ECD-D01E-D4C2-35D6-B2BF18CFF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447E-B38D-4D83-BB90-0CBD777036F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52F3DB-9051-26A8-AA6F-CB2380298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E8B659-BC55-2F9B-F9AE-5664A8262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C42EA-FAD3-411B-B061-B8A108B9F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0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63AF4-30E1-A936-C502-9368A9B28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A0B508-7987-5BE6-B835-63437FBBC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447E-B38D-4D83-BB90-0CBD777036F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87DC7-F191-6904-3BBA-9AF1EFB9A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3A7E2-3DCB-B26B-FF33-ABF510F9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C42EA-FAD3-411B-B061-B8A108B9F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132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06307E-1E7B-CB9A-13D5-BD39CA3B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447E-B38D-4D83-BB90-0CBD777036F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97C324-57AC-0021-D12F-0448B02A7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8CD15-7119-59B8-7B4E-ED4F82101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C42EA-FAD3-411B-B061-B8A108B9F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1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0C83C-CA51-A1C4-BF86-EDEF686B6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F8ADC-707E-9035-F20A-28F06AFDB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2925B6-F573-7A12-9F0E-773B1F73A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A6D2F-6C46-F301-FC96-13D130611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447E-B38D-4D83-BB90-0CBD777036F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02571-E7A6-5907-1EC0-7FE4F692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72366-4C08-FBC5-4BE2-3582C86D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C42EA-FAD3-411B-B061-B8A108B9F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48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27FDB-ACFE-62A8-8B4E-150C604BF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E42CE8-DBC8-A236-E2FA-DC68A2ECF12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B4CB5-0C11-EBCD-101A-2BA748535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5EE23-430B-7B79-81F9-3249399B3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447E-B38D-4D83-BB90-0CBD777036F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D8052-92A6-EC8F-8123-48B093B44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5CFE1-5883-A804-6717-2A36F9F2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C42EA-FAD3-411B-B061-B8A108B9F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7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F1682-714A-F403-B07F-F96B04EB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AAA12-B69A-C577-9BA3-1EB6A1D8C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9EECD-A18C-F92B-6E1A-C71629CB3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447E-B38D-4D83-BB90-0CBD777036F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EE838-CAFD-2AD4-DF27-65CE4CE11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DF371-B3F3-7C43-721B-782B8715D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C42EA-FAD3-411B-B061-B8A108B9F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44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5BA136-E44B-6DD7-769B-BD01A7318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7D0B4-033E-E264-FD21-AECC5D8AA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9FAFE-CD3E-0328-9643-C31A17447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447E-B38D-4D83-BB90-0CBD777036F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6BE91-EEA0-F5C1-F0C7-560E55EC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27952-575F-B9C9-6D7A-2601BD750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C42EA-FAD3-411B-B061-B8A108B9F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13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C5B210-8CE6-777E-58D6-7E9A9905E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F7010-DAE3-4E91-6147-FCA229AD8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CCDA8-7C3B-E5E1-7D88-DE3F0A1F1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0447E-B38D-4D83-BB90-0CBD777036F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CF78A-C842-D6EC-75C1-47C2CED84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EB9F2-ADA3-2671-B053-8099FAB37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42EA-FAD3-411B-B061-B8A108B9F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03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75D6FF-2947-9332-4248-9689C093FE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9525">
            <a:solidFill>
              <a:srgbClr val="F5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8579E-093E-9DA2-0AC8-3F9C61646781}"/>
              </a:ext>
            </a:extLst>
          </p:cNvPr>
          <p:cNvSpPr txBox="1"/>
          <p:nvPr/>
        </p:nvSpPr>
        <p:spPr>
          <a:xfrm>
            <a:off x="457200" y="304800"/>
            <a:ext cx="1127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800" b="1">
                <a:solidFill>
                  <a:srgbClr val="172033"/>
                </a:solidFill>
                <a:latin typeface="Aptos" panose="020B0004020202020204" pitchFamily="34" charset="0"/>
              </a:rPr>
              <a:t>Directors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3DDFBA-A2E5-09D4-3A37-979337C9DB13}"/>
              </a:ext>
            </a:extLst>
          </p:cNvPr>
          <p:cNvSpPr txBox="1"/>
          <p:nvPr/>
        </p:nvSpPr>
        <p:spPr>
          <a:xfrm>
            <a:off x="457200" y="838200"/>
            <a:ext cx="1127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1200">
                <a:solidFill>
                  <a:srgbClr val="5C6778"/>
                </a:solidFill>
                <a:latin typeface="Aptos" panose="020B0004020202020204" pitchFamily="34" charset="0"/>
              </a:rPr>
              <a:t>2 directors in the organization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B21DF5-CCC6-4D78-899E-92B594CE9BB2}"/>
              </a:ext>
            </a:extLst>
          </p:cNvPr>
          <p:cNvSpPr/>
          <p:nvPr/>
        </p:nvSpPr>
        <p:spPr>
          <a:xfrm>
            <a:off x="457200" y="1473200"/>
            <a:ext cx="5524500" cy="4191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053D644-1CCE-BE15-2F60-67B7BFDEBE8A}"/>
              </a:ext>
            </a:extLst>
          </p:cNvPr>
          <p:cNvSpPr/>
          <p:nvPr/>
        </p:nvSpPr>
        <p:spPr>
          <a:xfrm>
            <a:off x="2609850" y="1955800"/>
            <a:ext cx="1219200" cy="1219200"/>
          </a:xfrm>
          <a:prstGeom prst="ellipse">
            <a:avLst/>
          </a:prstGeom>
          <a:solidFill>
            <a:srgbClr val="203864"/>
          </a:solidFill>
          <a:ln w="9525"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300" b="1">
                <a:solidFill>
                  <a:srgbClr val="FFFFFF"/>
                </a:solidFill>
                <a:latin typeface="Aptos" panose="020B0004020202020204" pitchFamily="34" charset="0"/>
              </a:rPr>
              <a:t>DR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EF6D6-0585-34D9-6A4C-4BA314D5B092}"/>
              </a:ext>
            </a:extLst>
          </p:cNvPr>
          <p:cNvSpPr txBox="1"/>
          <p:nvPr/>
        </p:nvSpPr>
        <p:spPr>
          <a:xfrm>
            <a:off x="711200" y="34290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172033"/>
                </a:solidFill>
                <a:latin typeface="Aptos" panose="020B0004020202020204" pitchFamily="34" charset="0"/>
              </a:rPr>
              <a:t>Dana Rivera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5D0C41-10E7-0E29-3E54-9913C8892E23}"/>
              </a:ext>
            </a:extLst>
          </p:cNvPr>
          <p:cNvSpPr txBox="1"/>
          <p:nvPr/>
        </p:nvSpPr>
        <p:spPr>
          <a:xfrm>
            <a:off x="711200" y="39116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>
                <a:solidFill>
                  <a:srgbClr val="5C6778"/>
                </a:solidFill>
                <a:latin typeface="Aptos" panose="020B0004020202020204" pitchFamily="34" charset="0"/>
              </a:rPr>
              <a:t>Director, Employee ID D001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BE97BD-B3C6-8175-7007-7C53A3B7C158}"/>
              </a:ext>
            </a:extLst>
          </p:cNvPr>
          <p:cNvSpPr txBox="1"/>
          <p:nvPr/>
        </p:nvSpPr>
        <p:spPr>
          <a:xfrm>
            <a:off x="711200" y="44958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00">
                <a:solidFill>
                  <a:srgbClr val="303A4A"/>
                </a:solidFill>
                <a:latin typeface="Aptos" panose="020B0004020202020204" pitchFamily="34" charset="0"/>
              </a:rPr>
              <a:t>Current direct reports: 2
Future direct reports: 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ED822F-D13A-872F-341B-A5A5BD71790C}"/>
              </a:ext>
            </a:extLst>
          </p:cNvPr>
          <p:cNvSpPr/>
          <p:nvPr/>
        </p:nvSpPr>
        <p:spPr>
          <a:xfrm>
            <a:off x="6210300" y="1473200"/>
            <a:ext cx="5524500" cy="4191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01F64-8734-959B-D7F1-228885BA2E59}"/>
              </a:ext>
            </a:extLst>
          </p:cNvPr>
          <p:cNvSpPr/>
          <p:nvPr/>
        </p:nvSpPr>
        <p:spPr>
          <a:xfrm>
            <a:off x="8362950" y="1955800"/>
            <a:ext cx="1219200" cy="1219200"/>
          </a:xfrm>
          <a:prstGeom prst="ellipse">
            <a:avLst/>
          </a:prstGeom>
          <a:solidFill>
            <a:srgbClr val="203864"/>
          </a:solidFill>
          <a:ln w="9525"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300" b="1">
                <a:solidFill>
                  <a:srgbClr val="FFFFFF"/>
                </a:solidFill>
                <a:latin typeface="Aptos" panose="020B0004020202020204" pitchFamily="34" charset="0"/>
              </a:rPr>
              <a:t>LH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A85C0D-E7BA-BE74-0E5D-2093C927052C}"/>
              </a:ext>
            </a:extLst>
          </p:cNvPr>
          <p:cNvSpPr txBox="1"/>
          <p:nvPr/>
        </p:nvSpPr>
        <p:spPr>
          <a:xfrm>
            <a:off x="6464300" y="34290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172033"/>
                </a:solidFill>
                <a:latin typeface="Aptos" panose="020B0004020202020204" pitchFamily="34" charset="0"/>
              </a:rPr>
              <a:t>Leslie Harper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0B959-4AE5-C4B8-A1C1-8C2133CB28A4}"/>
              </a:ext>
            </a:extLst>
          </p:cNvPr>
          <p:cNvSpPr txBox="1"/>
          <p:nvPr/>
        </p:nvSpPr>
        <p:spPr>
          <a:xfrm>
            <a:off x="6464300" y="39116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>
                <a:solidFill>
                  <a:srgbClr val="5C6778"/>
                </a:solidFill>
                <a:latin typeface="Aptos" panose="020B0004020202020204" pitchFamily="34" charset="0"/>
              </a:rPr>
              <a:t>Director, Employee ID D002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41177F-0988-AF66-1551-1CDC857EBE7E}"/>
              </a:ext>
            </a:extLst>
          </p:cNvPr>
          <p:cNvSpPr txBox="1"/>
          <p:nvPr/>
        </p:nvSpPr>
        <p:spPr>
          <a:xfrm>
            <a:off x="6464300" y="44958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00">
                <a:solidFill>
                  <a:srgbClr val="303A4A"/>
                </a:solidFill>
                <a:latin typeface="Aptos" panose="020B0004020202020204" pitchFamily="34" charset="0"/>
              </a:rPr>
              <a:t>Current direct reports: 1
Future direct reports: 2</a:t>
            </a:r>
          </a:p>
        </p:txBody>
      </p:sp>
    </p:spTree>
    <p:extLst>
      <p:ext uri="{BB962C8B-B14F-4D97-AF65-F5344CB8AC3E}">
        <p14:creationId xmlns:p14="http://schemas.microsoft.com/office/powerpoint/2010/main" val="138714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847E48-8E94-5DFA-9FD0-A46B72C412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9525">
            <a:solidFill>
              <a:srgbClr val="F5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570A0-89EC-C306-743E-D3F0B9EDE088}"/>
              </a:ext>
            </a:extLst>
          </p:cNvPr>
          <p:cNvSpPr txBox="1"/>
          <p:nvPr/>
        </p:nvSpPr>
        <p:spPr>
          <a:xfrm>
            <a:off x="457200" y="1270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172033"/>
                </a:solidFill>
                <a:latin typeface="Aptos" panose="020B0004020202020204" pitchFamily="34" charset="0"/>
              </a:rPr>
              <a:t>Dana Rivera, Current organization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98E80-864C-5D43-0E74-CA205B9576B2}"/>
              </a:ext>
            </a:extLst>
          </p:cNvPr>
          <p:cNvSpPr txBox="1"/>
          <p:nvPr/>
        </p:nvSpPr>
        <p:spPr>
          <a:xfrm>
            <a:off x="9271000" y="1270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r"/>
            <a:r>
              <a:rPr lang="en-US" sz="1400" b="1">
                <a:solidFill>
                  <a:srgbClr val="445064"/>
                </a:solidFill>
                <a:latin typeface="Aptos" panose="020B0004020202020204" pitchFamily="34" charset="0"/>
              </a:rPr>
              <a:t>2 employees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43D97D-27E3-6B41-512E-3B1EA14E5D5D}"/>
              </a:ext>
            </a:extLst>
          </p:cNvPr>
          <p:cNvSpPr/>
          <p:nvPr/>
        </p:nvSpPr>
        <p:spPr>
          <a:xfrm>
            <a:off x="457200" y="635000"/>
            <a:ext cx="112776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FD64A2-E610-2F32-81BE-4AF5E9526B19}"/>
              </a:ext>
            </a:extLst>
          </p:cNvPr>
          <p:cNvSpPr/>
          <p:nvPr/>
        </p:nvSpPr>
        <p:spPr>
          <a:xfrm>
            <a:off x="647700" y="749300"/>
            <a:ext cx="660400" cy="660400"/>
          </a:xfrm>
          <a:prstGeom prst="ellipse">
            <a:avLst/>
          </a:prstGeom>
          <a:solidFill>
            <a:srgbClr val="203864"/>
          </a:solidFill>
          <a:ln w="9525"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DR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81D44C-557B-7F72-8041-373F47950D28}"/>
              </a:ext>
            </a:extLst>
          </p:cNvPr>
          <p:cNvSpPr txBox="1"/>
          <p:nvPr/>
        </p:nvSpPr>
        <p:spPr>
          <a:xfrm>
            <a:off x="1511300" y="7239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b="1">
                <a:solidFill>
                  <a:srgbClr val="172033"/>
                </a:solidFill>
                <a:latin typeface="Aptos" panose="020B0004020202020204" pitchFamily="34" charset="0"/>
              </a:rPr>
              <a:t>Dana Rivera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8C0217-9E87-5B94-163E-A06A6D2AE8D4}"/>
              </a:ext>
            </a:extLst>
          </p:cNvPr>
          <p:cNvSpPr txBox="1"/>
          <p:nvPr/>
        </p:nvSpPr>
        <p:spPr>
          <a:xfrm>
            <a:off x="1511300" y="10668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900">
                <a:solidFill>
                  <a:srgbClr val="5C6778"/>
                </a:solidFill>
                <a:latin typeface="Aptos" panose="020B0004020202020204" pitchFamily="34" charset="0"/>
              </a:rPr>
              <a:t>Director, Employee ID D001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138662F-72F1-FCE9-908E-210CE767A29E}"/>
              </a:ext>
            </a:extLst>
          </p:cNvPr>
          <p:cNvSpPr/>
          <p:nvPr/>
        </p:nvSpPr>
        <p:spPr>
          <a:xfrm>
            <a:off x="457200" y="1676400"/>
            <a:ext cx="112776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C4719E-D911-42A1-1B27-CF0CB27F1769}"/>
              </a:ext>
            </a:extLst>
          </p:cNvPr>
          <p:cNvSpPr/>
          <p:nvPr/>
        </p:nvSpPr>
        <p:spPr>
          <a:xfrm>
            <a:off x="457200" y="1676400"/>
            <a:ext cx="11277600" cy="342900"/>
          </a:xfrm>
          <a:prstGeom prst="roundRect">
            <a:avLst/>
          </a:prstGeom>
          <a:solidFill>
            <a:srgbClr val="203864"/>
          </a:solidFill>
          <a:ln w="9525"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B2B80D-E650-2D7E-B5DC-D9D61D5E8A1B}"/>
              </a:ext>
            </a:extLst>
          </p:cNvPr>
          <p:cNvSpPr txBox="1"/>
          <p:nvPr/>
        </p:nvSpPr>
        <p:spPr>
          <a:xfrm>
            <a:off x="520700" y="1689100"/>
            <a:ext cx="1115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Leadership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BAC8A07-0DE6-82ED-2484-71A3562A623B}"/>
              </a:ext>
            </a:extLst>
          </p:cNvPr>
          <p:cNvSpPr/>
          <p:nvPr/>
        </p:nvSpPr>
        <p:spPr>
          <a:xfrm>
            <a:off x="1398270" y="2108200"/>
            <a:ext cx="495300" cy="495300"/>
          </a:xfrm>
          <a:prstGeom prst="ellipse">
            <a:avLst/>
          </a:prstGeom>
          <a:solidFill>
            <a:srgbClr val="203864"/>
          </a:solidFill>
          <a:ln w="9525"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ML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00B1F-7B53-0C0D-9D9E-A195768CD5F3}"/>
              </a:ext>
            </a:extLst>
          </p:cNvPr>
          <p:cNvSpPr txBox="1"/>
          <p:nvPr/>
        </p:nvSpPr>
        <p:spPr>
          <a:xfrm>
            <a:off x="546100" y="2628900"/>
            <a:ext cx="2199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700">
                <a:solidFill>
                  <a:srgbClr val="303A4A"/>
                </a:solidFill>
                <a:latin typeface="Aptos" panose="020B0004020202020204" pitchFamily="34" charset="0"/>
              </a:rPr>
              <a:t>Morgan Lee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C1CED4F-36B1-8B38-3770-55EA6E2F9887}"/>
              </a:ext>
            </a:extLst>
          </p:cNvPr>
          <p:cNvSpPr/>
          <p:nvPr/>
        </p:nvSpPr>
        <p:spPr>
          <a:xfrm>
            <a:off x="3623310" y="2108200"/>
            <a:ext cx="495300" cy="495300"/>
          </a:xfrm>
          <a:prstGeom prst="ellipse">
            <a:avLst/>
          </a:prstGeom>
          <a:solidFill>
            <a:srgbClr val="203864"/>
          </a:solidFill>
          <a:ln w="9525"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TQ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1A9CD2-1A3C-6AC2-11BC-116905590A28}"/>
              </a:ext>
            </a:extLst>
          </p:cNvPr>
          <p:cNvSpPr txBox="1"/>
          <p:nvPr/>
        </p:nvSpPr>
        <p:spPr>
          <a:xfrm>
            <a:off x="2771140" y="2628900"/>
            <a:ext cx="2199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700">
                <a:solidFill>
                  <a:srgbClr val="303A4A"/>
                </a:solidFill>
                <a:latin typeface="Aptos" panose="020B0004020202020204" pitchFamily="34" charset="0"/>
              </a:rPr>
              <a:t>Taylor Quinn</a:t>
            </a:r>
          </a:p>
        </p:txBody>
      </p:sp>
    </p:spTree>
    <p:extLst>
      <p:ext uri="{BB962C8B-B14F-4D97-AF65-F5344CB8AC3E}">
        <p14:creationId xmlns:p14="http://schemas.microsoft.com/office/powerpoint/2010/main" val="173285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0656E0-A52D-AFA2-35BF-7ED8FF47E2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9525">
            <a:solidFill>
              <a:srgbClr val="F5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8119C3-A7B6-36F0-B944-9FF0338B88A1}"/>
              </a:ext>
            </a:extLst>
          </p:cNvPr>
          <p:cNvSpPr txBox="1"/>
          <p:nvPr/>
        </p:nvSpPr>
        <p:spPr>
          <a:xfrm>
            <a:off x="457200" y="1270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172033"/>
                </a:solidFill>
                <a:latin typeface="Aptos" panose="020B0004020202020204" pitchFamily="34" charset="0"/>
              </a:rPr>
              <a:t>Dana Rivera, Future organization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03CE83-1636-8BFD-8452-3EC1B5AA76F4}"/>
              </a:ext>
            </a:extLst>
          </p:cNvPr>
          <p:cNvSpPr txBox="1"/>
          <p:nvPr/>
        </p:nvSpPr>
        <p:spPr>
          <a:xfrm>
            <a:off x="9271000" y="1270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r"/>
            <a:r>
              <a:rPr lang="en-US" sz="1400" b="1">
                <a:solidFill>
                  <a:srgbClr val="B54237"/>
                </a:solidFill>
                <a:latin typeface="Aptos" panose="020B0004020202020204" pitchFamily="34" charset="0"/>
              </a:rPr>
              <a:t>1 employee (-1 vs current)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98415E-2198-376B-35E0-CE2BC3901471}"/>
              </a:ext>
            </a:extLst>
          </p:cNvPr>
          <p:cNvSpPr/>
          <p:nvPr/>
        </p:nvSpPr>
        <p:spPr>
          <a:xfrm>
            <a:off x="457200" y="635000"/>
            <a:ext cx="112776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3EB14E7-1BC0-DD75-349E-BED44F0762F9}"/>
              </a:ext>
            </a:extLst>
          </p:cNvPr>
          <p:cNvSpPr/>
          <p:nvPr/>
        </p:nvSpPr>
        <p:spPr>
          <a:xfrm>
            <a:off x="647700" y="749300"/>
            <a:ext cx="660400" cy="660400"/>
          </a:xfrm>
          <a:prstGeom prst="ellipse">
            <a:avLst/>
          </a:prstGeom>
          <a:solidFill>
            <a:srgbClr val="203864"/>
          </a:solidFill>
          <a:ln w="9525"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DR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DDACE-055C-7FC0-AF76-89DFC7B3F0BB}"/>
              </a:ext>
            </a:extLst>
          </p:cNvPr>
          <p:cNvSpPr txBox="1"/>
          <p:nvPr/>
        </p:nvSpPr>
        <p:spPr>
          <a:xfrm>
            <a:off x="1511300" y="7239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b="1">
                <a:solidFill>
                  <a:srgbClr val="172033"/>
                </a:solidFill>
                <a:latin typeface="Aptos" panose="020B0004020202020204" pitchFamily="34" charset="0"/>
              </a:rPr>
              <a:t>Dana Rivera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3F6AC9-460C-0EF5-06C8-E33A5AAC431C}"/>
              </a:ext>
            </a:extLst>
          </p:cNvPr>
          <p:cNvSpPr txBox="1"/>
          <p:nvPr/>
        </p:nvSpPr>
        <p:spPr>
          <a:xfrm>
            <a:off x="1511300" y="10668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900">
                <a:solidFill>
                  <a:srgbClr val="5C6778"/>
                </a:solidFill>
                <a:latin typeface="Aptos" panose="020B0004020202020204" pitchFamily="34" charset="0"/>
              </a:rPr>
              <a:t>Director, Employee ID D001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612ED2-E990-BFE5-5D3D-6B78141BDE2F}"/>
              </a:ext>
            </a:extLst>
          </p:cNvPr>
          <p:cNvSpPr/>
          <p:nvPr/>
        </p:nvSpPr>
        <p:spPr>
          <a:xfrm>
            <a:off x="457200" y="1676400"/>
            <a:ext cx="112776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0097FA-655A-43F4-C076-AD1BE2317549}"/>
              </a:ext>
            </a:extLst>
          </p:cNvPr>
          <p:cNvSpPr/>
          <p:nvPr/>
        </p:nvSpPr>
        <p:spPr>
          <a:xfrm>
            <a:off x="457200" y="1676400"/>
            <a:ext cx="11277600" cy="342900"/>
          </a:xfrm>
          <a:prstGeom prst="roundRect">
            <a:avLst/>
          </a:prstGeom>
          <a:solidFill>
            <a:srgbClr val="203864"/>
          </a:solidFill>
          <a:ln w="9525"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A08518-C814-F383-714F-AF53B4020C8E}"/>
              </a:ext>
            </a:extLst>
          </p:cNvPr>
          <p:cNvSpPr txBox="1"/>
          <p:nvPr/>
        </p:nvSpPr>
        <p:spPr>
          <a:xfrm>
            <a:off x="520700" y="1689100"/>
            <a:ext cx="1115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Leadership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45ED3CC-3314-0884-9C99-F719C0553220}"/>
              </a:ext>
            </a:extLst>
          </p:cNvPr>
          <p:cNvSpPr/>
          <p:nvPr/>
        </p:nvSpPr>
        <p:spPr>
          <a:xfrm>
            <a:off x="1398270" y="2108200"/>
            <a:ext cx="495300" cy="495300"/>
          </a:xfrm>
          <a:prstGeom prst="ellipse">
            <a:avLst/>
          </a:prstGeom>
          <a:solidFill>
            <a:srgbClr val="203864"/>
          </a:solidFill>
          <a:ln w="9525"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ML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103745-26EC-B44C-CC76-CFFA90148149}"/>
              </a:ext>
            </a:extLst>
          </p:cNvPr>
          <p:cNvSpPr txBox="1"/>
          <p:nvPr/>
        </p:nvSpPr>
        <p:spPr>
          <a:xfrm>
            <a:off x="546100" y="2628900"/>
            <a:ext cx="2199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700">
                <a:solidFill>
                  <a:srgbClr val="303A4A"/>
                </a:solidFill>
                <a:latin typeface="Aptos" panose="020B0004020202020204" pitchFamily="34" charset="0"/>
              </a:rPr>
              <a:t>Morgan Lee</a:t>
            </a:r>
          </a:p>
        </p:txBody>
      </p:sp>
    </p:spTree>
    <p:extLst>
      <p:ext uri="{BB962C8B-B14F-4D97-AF65-F5344CB8AC3E}">
        <p14:creationId xmlns:p14="http://schemas.microsoft.com/office/powerpoint/2010/main" val="48571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489EF5-260F-0949-3E14-88ED845A70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9525">
            <a:solidFill>
              <a:srgbClr val="F5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963D8-D4F4-2AF8-C626-714DD17A8CDB}"/>
              </a:ext>
            </a:extLst>
          </p:cNvPr>
          <p:cNvSpPr txBox="1"/>
          <p:nvPr/>
        </p:nvSpPr>
        <p:spPr>
          <a:xfrm>
            <a:off x="457200" y="1270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172033"/>
                </a:solidFill>
                <a:latin typeface="Aptos" panose="020B0004020202020204" pitchFamily="34" charset="0"/>
              </a:rPr>
              <a:t>Leslie Harper, Current organization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05F7AA-8638-78AE-E9D6-960D4C4B1717}"/>
              </a:ext>
            </a:extLst>
          </p:cNvPr>
          <p:cNvSpPr txBox="1"/>
          <p:nvPr/>
        </p:nvSpPr>
        <p:spPr>
          <a:xfrm>
            <a:off x="9271000" y="1270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r"/>
            <a:r>
              <a:rPr lang="en-US" sz="1400" b="1">
                <a:solidFill>
                  <a:srgbClr val="445064"/>
                </a:solidFill>
                <a:latin typeface="Aptos" panose="020B0004020202020204" pitchFamily="34" charset="0"/>
              </a:rPr>
              <a:t>1 employee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360AC1-BFB4-2815-5F74-BD0A5AED227D}"/>
              </a:ext>
            </a:extLst>
          </p:cNvPr>
          <p:cNvSpPr/>
          <p:nvPr/>
        </p:nvSpPr>
        <p:spPr>
          <a:xfrm>
            <a:off x="457200" y="635000"/>
            <a:ext cx="112776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FFACD1E-D203-1EC9-D126-4B6336AB3FD3}"/>
              </a:ext>
            </a:extLst>
          </p:cNvPr>
          <p:cNvSpPr/>
          <p:nvPr/>
        </p:nvSpPr>
        <p:spPr>
          <a:xfrm>
            <a:off x="647700" y="749300"/>
            <a:ext cx="660400" cy="660400"/>
          </a:xfrm>
          <a:prstGeom prst="ellipse">
            <a:avLst/>
          </a:prstGeom>
          <a:solidFill>
            <a:srgbClr val="203864"/>
          </a:solidFill>
          <a:ln w="9525"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LH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E45A09-4B1F-E649-941E-7A9383B17EC6}"/>
              </a:ext>
            </a:extLst>
          </p:cNvPr>
          <p:cNvSpPr txBox="1"/>
          <p:nvPr/>
        </p:nvSpPr>
        <p:spPr>
          <a:xfrm>
            <a:off x="1511300" y="7239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b="1">
                <a:solidFill>
                  <a:srgbClr val="172033"/>
                </a:solidFill>
                <a:latin typeface="Aptos" panose="020B0004020202020204" pitchFamily="34" charset="0"/>
              </a:rPr>
              <a:t>Leslie Harper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E32361-AD19-2608-4744-A12900491985}"/>
              </a:ext>
            </a:extLst>
          </p:cNvPr>
          <p:cNvSpPr txBox="1"/>
          <p:nvPr/>
        </p:nvSpPr>
        <p:spPr>
          <a:xfrm>
            <a:off x="1511300" y="10668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900">
                <a:solidFill>
                  <a:srgbClr val="5C6778"/>
                </a:solidFill>
                <a:latin typeface="Aptos" panose="020B0004020202020204" pitchFamily="34" charset="0"/>
              </a:rPr>
              <a:t>Director, Employee ID D002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6C46E2-962F-78DA-5FA8-FC626CB8FBFD}"/>
              </a:ext>
            </a:extLst>
          </p:cNvPr>
          <p:cNvSpPr/>
          <p:nvPr/>
        </p:nvSpPr>
        <p:spPr>
          <a:xfrm>
            <a:off x="457200" y="1676400"/>
            <a:ext cx="112776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3D0CABD-B42E-1B1F-D594-E181F02B9959}"/>
              </a:ext>
            </a:extLst>
          </p:cNvPr>
          <p:cNvSpPr/>
          <p:nvPr/>
        </p:nvSpPr>
        <p:spPr>
          <a:xfrm>
            <a:off x="457200" y="1676400"/>
            <a:ext cx="11277600" cy="342900"/>
          </a:xfrm>
          <a:prstGeom prst="roundRect">
            <a:avLst/>
          </a:prstGeom>
          <a:solidFill>
            <a:srgbClr val="203864"/>
          </a:solidFill>
          <a:ln w="9525"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E1480-4125-5C8F-3423-CCD3A5BDC90F}"/>
              </a:ext>
            </a:extLst>
          </p:cNvPr>
          <p:cNvSpPr txBox="1"/>
          <p:nvPr/>
        </p:nvSpPr>
        <p:spPr>
          <a:xfrm>
            <a:off x="520700" y="1689100"/>
            <a:ext cx="1115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Leadership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C207678-62C2-DD80-3C86-0FA4CAC5F7D9}"/>
              </a:ext>
            </a:extLst>
          </p:cNvPr>
          <p:cNvSpPr/>
          <p:nvPr/>
        </p:nvSpPr>
        <p:spPr>
          <a:xfrm>
            <a:off x="1398270" y="2108200"/>
            <a:ext cx="495300" cy="495300"/>
          </a:xfrm>
          <a:prstGeom prst="ellipse">
            <a:avLst/>
          </a:prstGeom>
          <a:solidFill>
            <a:srgbClr val="203864"/>
          </a:solidFill>
          <a:ln w="9525"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RG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0B74BD-0F04-A3E8-A63D-4D90A61426DB}"/>
              </a:ext>
            </a:extLst>
          </p:cNvPr>
          <p:cNvSpPr txBox="1"/>
          <p:nvPr/>
        </p:nvSpPr>
        <p:spPr>
          <a:xfrm>
            <a:off x="546100" y="2628900"/>
            <a:ext cx="2199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700">
                <a:solidFill>
                  <a:srgbClr val="303A4A"/>
                </a:solidFill>
                <a:latin typeface="Aptos" panose="020B0004020202020204" pitchFamily="34" charset="0"/>
              </a:rPr>
              <a:t>Robin Gray</a:t>
            </a:r>
          </a:p>
        </p:txBody>
      </p:sp>
    </p:spTree>
    <p:extLst>
      <p:ext uri="{BB962C8B-B14F-4D97-AF65-F5344CB8AC3E}">
        <p14:creationId xmlns:p14="http://schemas.microsoft.com/office/powerpoint/2010/main" val="3186654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5FC123-F75B-6044-9252-C70E1C6C21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9525">
            <a:solidFill>
              <a:srgbClr val="F5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E95DE8-25DB-3300-7A15-6B880081529E}"/>
              </a:ext>
            </a:extLst>
          </p:cNvPr>
          <p:cNvSpPr txBox="1"/>
          <p:nvPr/>
        </p:nvSpPr>
        <p:spPr>
          <a:xfrm>
            <a:off x="457200" y="1270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172033"/>
                </a:solidFill>
                <a:latin typeface="Aptos" panose="020B0004020202020204" pitchFamily="34" charset="0"/>
              </a:rPr>
              <a:t>Leslie Harper, Future organization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411181-44A0-714E-5679-2B7E749A71A5}"/>
              </a:ext>
            </a:extLst>
          </p:cNvPr>
          <p:cNvSpPr txBox="1"/>
          <p:nvPr/>
        </p:nvSpPr>
        <p:spPr>
          <a:xfrm>
            <a:off x="9271000" y="1270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r"/>
            <a:r>
              <a:rPr lang="en-US" sz="1400" b="1">
                <a:solidFill>
                  <a:srgbClr val="1B7F45"/>
                </a:solidFill>
                <a:latin typeface="Aptos" panose="020B0004020202020204" pitchFamily="34" charset="0"/>
              </a:rPr>
              <a:t>2 employees (+1 vs current)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E331052-14EB-7F01-1F90-259E70C1F560}"/>
              </a:ext>
            </a:extLst>
          </p:cNvPr>
          <p:cNvSpPr/>
          <p:nvPr/>
        </p:nvSpPr>
        <p:spPr>
          <a:xfrm>
            <a:off x="457200" y="635000"/>
            <a:ext cx="112776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2FC181-59BC-144D-D885-2DB1BA09A69E}"/>
              </a:ext>
            </a:extLst>
          </p:cNvPr>
          <p:cNvSpPr/>
          <p:nvPr/>
        </p:nvSpPr>
        <p:spPr>
          <a:xfrm>
            <a:off x="647700" y="749300"/>
            <a:ext cx="660400" cy="660400"/>
          </a:xfrm>
          <a:prstGeom prst="ellipse">
            <a:avLst/>
          </a:prstGeom>
          <a:solidFill>
            <a:srgbClr val="203864"/>
          </a:solidFill>
          <a:ln w="9525"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LH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5E58E0-602E-155B-B34E-6634AE2FFEE0}"/>
              </a:ext>
            </a:extLst>
          </p:cNvPr>
          <p:cNvSpPr txBox="1"/>
          <p:nvPr/>
        </p:nvSpPr>
        <p:spPr>
          <a:xfrm>
            <a:off x="1511300" y="7239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b="1">
                <a:solidFill>
                  <a:srgbClr val="172033"/>
                </a:solidFill>
                <a:latin typeface="Aptos" panose="020B0004020202020204" pitchFamily="34" charset="0"/>
              </a:rPr>
              <a:t>Leslie Harper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4C1458-9BC4-54B0-34D6-FEEB864243D5}"/>
              </a:ext>
            </a:extLst>
          </p:cNvPr>
          <p:cNvSpPr txBox="1"/>
          <p:nvPr/>
        </p:nvSpPr>
        <p:spPr>
          <a:xfrm>
            <a:off x="1511300" y="10668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900">
                <a:solidFill>
                  <a:srgbClr val="5C6778"/>
                </a:solidFill>
                <a:latin typeface="Aptos" panose="020B0004020202020204" pitchFamily="34" charset="0"/>
              </a:rPr>
              <a:t>Director, Employee ID D002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BAD096-573D-76A8-E326-A050CA56D2F4}"/>
              </a:ext>
            </a:extLst>
          </p:cNvPr>
          <p:cNvSpPr/>
          <p:nvPr/>
        </p:nvSpPr>
        <p:spPr>
          <a:xfrm>
            <a:off x="457200" y="1676400"/>
            <a:ext cx="112776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F8AB0D-A94F-ECB0-1837-1D1F9AE75E3C}"/>
              </a:ext>
            </a:extLst>
          </p:cNvPr>
          <p:cNvSpPr/>
          <p:nvPr/>
        </p:nvSpPr>
        <p:spPr>
          <a:xfrm>
            <a:off x="457200" y="1676400"/>
            <a:ext cx="11277600" cy="342900"/>
          </a:xfrm>
          <a:prstGeom prst="roundRect">
            <a:avLst/>
          </a:prstGeom>
          <a:solidFill>
            <a:srgbClr val="203864"/>
          </a:solidFill>
          <a:ln w="9525"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6AB6C5-C69E-E45B-407B-14D133C7B7C3}"/>
              </a:ext>
            </a:extLst>
          </p:cNvPr>
          <p:cNvSpPr txBox="1"/>
          <p:nvPr/>
        </p:nvSpPr>
        <p:spPr>
          <a:xfrm>
            <a:off x="520700" y="1689100"/>
            <a:ext cx="1115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Leadership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D2D774-1CE2-9476-E657-44B38C001971}"/>
              </a:ext>
            </a:extLst>
          </p:cNvPr>
          <p:cNvSpPr/>
          <p:nvPr/>
        </p:nvSpPr>
        <p:spPr>
          <a:xfrm>
            <a:off x="1398270" y="2108200"/>
            <a:ext cx="495300" cy="495300"/>
          </a:xfrm>
          <a:prstGeom prst="ellipse">
            <a:avLst/>
          </a:prstGeom>
          <a:solidFill>
            <a:srgbClr val="203864"/>
          </a:solidFill>
          <a:ln w="9525"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RG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0C49FA-C666-25F2-F4AC-190E0EF421F0}"/>
              </a:ext>
            </a:extLst>
          </p:cNvPr>
          <p:cNvSpPr txBox="1"/>
          <p:nvPr/>
        </p:nvSpPr>
        <p:spPr>
          <a:xfrm>
            <a:off x="546100" y="2628900"/>
            <a:ext cx="2199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700">
                <a:solidFill>
                  <a:srgbClr val="303A4A"/>
                </a:solidFill>
                <a:latin typeface="Aptos" panose="020B0004020202020204" pitchFamily="34" charset="0"/>
              </a:rPr>
              <a:t>Robin Gray</a:t>
            </a:r>
          </a:p>
        </p:txBody>
      </p:sp>
      <p:sp>
        <p:nvSpPr>
          <p:cNvPr id="14" name="Oval 13" descr="Manager transfers to Leslie Harper in the proposed structure.">
            <a:hlinkHover r:id="rId2" action="ppaction://hlinksldjump" tooltip="Manager transfers to Leslie Harper in the proposed structure."/>
            <a:extLst>
              <a:ext uri="{FF2B5EF4-FFF2-40B4-BE49-F238E27FC236}">
                <a16:creationId xmlns:a16="http://schemas.microsoft.com/office/drawing/2014/main" id="{6503076F-1EB3-9C96-6FA1-C169267F6418}"/>
              </a:ext>
            </a:extLst>
          </p:cNvPr>
          <p:cNvSpPr/>
          <p:nvPr/>
        </p:nvSpPr>
        <p:spPr>
          <a:xfrm>
            <a:off x="3623310" y="2108200"/>
            <a:ext cx="495300" cy="495300"/>
          </a:xfrm>
          <a:prstGeom prst="ellipse">
            <a:avLst/>
          </a:prstGeom>
          <a:solidFill>
            <a:srgbClr val="203864"/>
          </a:solidFill>
          <a:ln w="28575">
            <a:solidFill>
              <a:srgbClr val="D6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TQ</a:t>
            </a:r>
          </a:p>
        </p:txBody>
      </p:sp>
      <p:sp>
        <p:nvSpPr>
          <p:cNvPr id="15" name="TextBox 14" descr="Manager transfers to Leslie Harper in the proposed structure.">
            <a:hlinkHover r:id="rId2" action="ppaction://hlinksldjump" tooltip="Manager transfers to Leslie Harper in the proposed structure."/>
            <a:extLst>
              <a:ext uri="{FF2B5EF4-FFF2-40B4-BE49-F238E27FC236}">
                <a16:creationId xmlns:a16="http://schemas.microsoft.com/office/drawing/2014/main" id="{E356F76E-0FF5-8ACB-FE4A-9E0F264EFD35}"/>
              </a:ext>
            </a:extLst>
          </p:cNvPr>
          <p:cNvSpPr txBox="1"/>
          <p:nvPr/>
        </p:nvSpPr>
        <p:spPr>
          <a:xfrm>
            <a:off x="2771140" y="2628900"/>
            <a:ext cx="2199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700">
                <a:solidFill>
                  <a:srgbClr val="303A4A"/>
                </a:solidFill>
                <a:latin typeface="Aptos" panose="020B0004020202020204" pitchFamily="34" charset="0"/>
              </a:rPr>
              <a:t>Taylor Quinn</a:t>
            </a:r>
          </a:p>
        </p:txBody>
      </p:sp>
    </p:spTree>
    <p:extLst>
      <p:ext uri="{BB962C8B-B14F-4D97-AF65-F5344CB8AC3E}">
        <p14:creationId xmlns:p14="http://schemas.microsoft.com/office/powerpoint/2010/main" val="1914825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5B4591-6267-14B9-148C-67E059782B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9525">
            <a:solidFill>
              <a:srgbClr val="F5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FA55F-38B4-DABD-627D-7999397927D2}"/>
              </a:ext>
            </a:extLst>
          </p:cNvPr>
          <p:cNvSpPr txBox="1"/>
          <p:nvPr/>
        </p:nvSpPr>
        <p:spPr>
          <a:xfrm>
            <a:off x="457200" y="304800"/>
            <a:ext cx="1127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800" b="1">
                <a:solidFill>
                  <a:srgbClr val="172033"/>
                </a:solidFill>
                <a:latin typeface="Aptos" panose="020B0004020202020204" pitchFamily="34" charset="0"/>
              </a:rPr>
              <a:t>Managers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7B8E8-9011-3EF4-E195-EE5B5AA829BE}"/>
              </a:ext>
            </a:extLst>
          </p:cNvPr>
          <p:cNvSpPr txBox="1"/>
          <p:nvPr/>
        </p:nvSpPr>
        <p:spPr>
          <a:xfrm>
            <a:off x="457200" y="838200"/>
            <a:ext cx="1127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1200">
                <a:solidFill>
                  <a:srgbClr val="5C6778"/>
                </a:solidFill>
                <a:latin typeface="Aptos" panose="020B0004020202020204" pitchFamily="34" charset="0"/>
              </a:rPr>
              <a:t>Managers grouped by their future-state director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45671F3-1195-0A46-5A10-64CCAA79BC85}"/>
              </a:ext>
            </a:extLst>
          </p:cNvPr>
          <p:cNvSpPr/>
          <p:nvPr/>
        </p:nvSpPr>
        <p:spPr>
          <a:xfrm>
            <a:off x="457200" y="1422400"/>
            <a:ext cx="5549900" cy="4851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29485F-CB56-7998-D2E9-D3A485AC38BD}"/>
              </a:ext>
            </a:extLst>
          </p:cNvPr>
          <p:cNvSpPr/>
          <p:nvPr/>
        </p:nvSpPr>
        <p:spPr>
          <a:xfrm>
            <a:off x="457200" y="1422400"/>
            <a:ext cx="5549900" cy="533400"/>
          </a:xfrm>
          <a:prstGeom prst="roundRect">
            <a:avLst/>
          </a:prstGeom>
          <a:solidFill>
            <a:srgbClr val="203864"/>
          </a:solidFill>
          <a:ln w="9525"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743B20-8496-9C18-BD5B-E5F6ED2CAACE}"/>
              </a:ext>
            </a:extLst>
          </p:cNvPr>
          <p:cNvSpPr txBox="1"/>
          <p:nvPr/>
        </p:nvSpPr>
        <p:spPr>
          <a:xfrm>
            <a:off x="558800" y="1498600"/>
            <a:ext cx="5346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Dana Rivera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1AF207F-CBE3-7ADB-DCBE-90677C14EE3E}"/>
              </a:ext>
            </a:extLst>
          </p:cNvPr>
          <p:cNvSpPr/>
          <p:nvPr/>
        </p:nvSpPr>
        <p:spPr>
          <a:xfrm>
            <a:off x="635000" y="2133600"/>
            <a:ext cx="584200" cy="584200"/>
          </a:xfrm>
          <a:prstGeom prst="ellipse">
            <a:avLst/>
          </a:prstGeom>
          <a:solidFill>
            <a:srgbClr val="44546A"/>
          </a:solidFill>
          <a:ln w="9525"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B2E835-76F8-6D13-08B0-4257635CC43B}"/>
              </a:ext>
            </a:extLst>
          </p:cNvPr>
          <p:cNvSpPr txBox="1"/>
          <p:nvPr/>
        </p:nvSpPr>
        <p:spPr>
          <a:xfrm>
            <a:off x="1371600" y="2082800"/>
            <a:ext cx="4457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1200" b="1">
                <a:solidFill>
                  <a:srgbClr val="172033"/>
                </a:solidFill>
                <a:latin typeface="Aptos" panose="020B0004020202020204" pitchFamily="34" charset="0"/>
              </a:rPr>
              <a:t>Morgan Lee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ABA58E-5C21-22EA-DDF5-301C6A492430}"/>
              </a:ext>
            </a:extLst>
          </p:cNvPr>
          <p:cNvSpPr txBox="1"/>
          <p:nvPr/>
        </p:nvSpPr>
        <p:spPr>
          <a:xfrm>
            <a:off x="1371600" y="2387600"/>
            <a:ext cx="4457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800">
                <a:solidFill>
                  <a:srgbClr val="5C6778"/>
                </a:solidFill>
                <a:latin typeface="Aptos" panose="020B0004020202020204" pitchFamily="34" charset="0"/>
              </a:rPr>
              <a:t>Employee ID M101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1DB986-032C-BA55-9D4E-9B9FF2C19844}"/>
              </a:ext>
            </a:extLst>
          </p:cNvPr>
          <p:cNvSpPr/>
          <p:nvPr/>
        </p:nvSpPr>
        <p:spPr>
          <a:xfrm>
            <a:off x="6184900" y="1422400"/>
            <a:ext cx="5549900" cy="4851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FB38CA-80AC-5C4C-57C1-18C31052F2E2}"/>
              </a:ext>
            </a:extLst>
          </p:cNvPr>
          <p:cNvSpPr/>
          <p:nvPr/>
        </p:nvSpPr>
        <p:spPr>
          <a:xfrm>
            <a:off x="6184900" y="1422400"/>
            <a:ext cx="5549900" cy="533400"/>
          </a:xfrm>
          <a:prstGeom prst="roundRect">
            <a:avLst/>
          </a:prstGeom>
          <a:solidFill>
            <a:srgbClr val="203864"/>
          </a:solidFill>
          <a:ln w="9525"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37C843-6B22-C603-52CA-600F34A01210}"/>
              </a:ext>
            </a:extLst>
          </p:cNvPr>
          <p:cNvSpPr txBox="1"/>
          <p:nvPr/>
        </p:nvSpPr>
        <p:spPr>
          <a:xfrm>
            <a:off x="6286500" y="1498600"/>
            <a:ext cx="5346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Leslie Harper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F8F8A98-93EC-64B5-394E-10BF8257CD38}"/>
              </a:ext>
            </a:extLst>
          </p:cNvPr>
          <p:cNvSpPr/>
          <p:nvPr/>
        </p:nvSpPr>
        <p:spPr>
          <a:xfrm>
            <a:off x="6362700" y="2133600"/>
            <a:ext cx="584200" cy="584200"/>
          </a:xfrm>
          <a:prstGeom prst="ellipse">
            <a:avLst/>
          </a:prstGeom>
          <a:solidFill>
            <a:srgbClr val="44546A"/>
          </a:solidFill>
          <a:ln w="9525"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C0F3CF-FC7A-3B84-6BB8-15EBD9094206}"/>
              </a:ext>
            </a:extLst>
          </p:cNvPr>
          <p:cNvSpPr txBox="1"/>
          <p:nvPr/>
        </p:nvSpPr>
        <p:spPr>
          <a:xfrm>
            <a:off x="7099300" y="2082800"/>
            <a:ext cx="4457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1200" b="1">
                <a:solidFill>
                  <a:srgbClr val="172033"/>
                </a:solidFill>
                <a:latin typeface="Aptos" panose="020B0004020202020204" pitchFamily="34" charset="0"/>
              </a:rPr>
              <a:t>Robin Gray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6D170A-745A-1428-C675-3612810F62F5}"/>
              </a:ext>
            </a:extLst>
          </p:cNvPr>
          <p:cNvSpPr txBox="1"/>
          <p:nvPr/>
        </p:nvSpPr>
        <p:spPr>
          <a:xfrm>
            <a:off x="7099300" y="2387600"/>
            <a:ext cx="4457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800">
                <a:solidFill>
                  <a:srgbClr val="5C6778"/>
                </a:solidFill>
                <a:latin typeface="Aptos" panose="020B0004020202020204" pitchFamily="34" charset="0"/>
              </a:rPr>
              <a:t>Employee ID M103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5A253FC-336F-1969-097A-1E904CDCDC37}"/>
              </a:ext>
            </a:extLst>
          </p:cNvPr>
          <p:cNvSpPr/>
          <p:nvPr/>
        </p:nvSpPr>
        <p:spPr>
          <a:xfrm>
            <a:off x="6362700" y="2997200"/>
            <a:ext cx="584200" cy="584200"/>
          </a:xfrm>
          <a:prstGeom prst="ellipse">
            <a:avLst/>
          </a:prstGeom>
          <a:solidFill>
            <a:srgbClr val="44546A"/>
          </a:solidFill>
          <a:ln w="9525"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TQ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516C72-1BD0-7AF2-BE54-E63B6418EAD7}"/>
              </a:ext>
            </a:extLst>
          </p:cNvPr>
          <p:cNvSpPr txBox="1"/>
          <p:nvPr/>
        </p:nvSpPr>
        <p:spPr>
          <a:xfrm>
            <a:off x="7099300" y="2946400"/>
            <a:ext cx="4457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1200" b="1">
                <a:solidFill>
                  <a:srgbClr val="172033"/>
                </a:solidFill>
                <a:latin typeface="Aptos" panose="020B0004020202020204" pitchFamily="34" charset="0"/>
              </a:rPr>
              <a:t>Taylor Quinn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D5ED4B-DDFA-DB53-1D60-E9D0C25499C9}"/>
              </a:ext>
            </a:extLst>
          </p:cNvPr>
          <p:cNvSpPr txBox="1"/>
          <p:nvPr/>
        </p:nvSpPr>
        <p:spPr>
          <a:xfrm>
            <a:off x="7099300" y="3251200"/>
            <a:ext cx="4457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800">
                <a:solidFill>
                  <a:srgbClr val="5C6778"/>
                </a:solidFill>
                <a:latin typeface="Aptos" panose="020B0004020202020204" pitchFamily="34" charset="0"/>
              </a:rPr>
              <a:t>Employee ID M102, moving from Dana Rivera</a:t>
            </a:r>
          </a:p>
        </p:txBody>
      </p:sp>
    </p:spTree>
    <p:extLst>
      <p:ext uri="{BB962C8B-B14F-4D97-AF65-F5344CB8AC3E}">
        <p14:creationId xmlns:p14="http://schemas.microsoft.com/office/powerpoint/2010/main" val="1428897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B7B3B1-B5CD-8C33-070A-F52EC95E07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9525">
            <a:solidFill>
              <a:srgbClr val="F5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6B884-66F7-C1C9-0297-55377F470985}"/>
              </a:ext>
            </a:extLst>
          </p:cNvPr>
          <p:cNvSpPr txBox="1"/>
          <p:nvPr/>
        </p:nvSpPr>
        <p:spPr>
          <a:xfrm>
            <a:off x="457200" y="1270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172033"/>
                </a:solidFill>
                <a:latin typeface="Aptos" panose="020B0004020202020204" pitchFamily="34" charset="0"/>
              </a:rPr>
              <a:t>Morgan Lee, Current organization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294C50-7D0B-90B0-62D4-711E03D674E4}"/>
              </a:ext>
            </a:extLst>
          </p:cNvPr>
          <p:cNvSpPr txBox="1"/>
          <p:nvPr/>
        </p:nvSpPr>
        <p:spPr>
          <a:xfrm>
            <a:off x="9271000" y="1270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r"/>
            <a:r>
              <a:rPr lang="en-US" sz="1400" b="1">
                <a:solidFill>
                  <a:srgbClr val="445064"/>
                </a:solidFill>
                <a:latin typeface="Aptos" panose="020B0004020202020204" pitchFamily="34" charset="0"/>
              </a:rPr>
              <a:t>3 employees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8F7DE2A-8CE9-41FA-9E1C-9452A5C71B6B}"/>
              </a:ext>
            </a:extLst>
          </p:cNvPr>
          <p:cNvSpPr/>
          <p:nvPr/>
        </p:nvSpPr>
        <p:spPr>
          <a:xfrm>
            <a:off x="457200" y="635000"/>
            <a:ext cx="112776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B30449-3061-6E48-7560-FEF6E17A9E04}"/>
              </a:ext>
            </a:extLst>
          </p:cNvPr>
          <p:cNvSpPr/>
          <p:nvPr/>
        </p:nvSpPr>
        <p:spPr>
          <a:xfrm>
            <a:off x="647700" y="749300"/>
            <a:ext cx="660400" cy="660400"/>
          </a:xfrm>
          <a:prstGeom prst="ellipse">
            <a:avLst/>
          </a:prstGeom>
          <a:solidFill>
            <a:srgbClr val="44546A"/>
          </a:solidFill>
          <a:ln w="9525"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C92843-93EC-03B2-DA38-C89A9DC6A25A}"/>
              </a:ext>
            </a:extLst>
          </p:cNvPr>
          <p:cNvSpPr txBox="1"/>
          <p:nvPr/>
        </p:nvSpPr>
        <p:spPr>
          <a:xfrm>
            <a:off x="1511300" y="7239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b="1">
                <a:solidFill>
                  <a:srgbClr val="172033"/>
                </a:solidFill>
                <a:latin typeface="Aptos" panose="020B0004020202020204" pitchFamily="34" charset="0"/>
              </a:rPr>
              <a:t>Morgan Lee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5AABEF-E168-DCB4-8FFE-395C6D5F653B}"/>
              </a:ext>
            </a:extLst>
          </p:cNvPr>
          <p:cNvSpPr txBox="1"/>
          <p:nvPr/>
        </p:nvSpPr>
        <p:spPr>
          <a:xfrm>
            <a:off x="1511300" y="10668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900">
                <a:solidFill>
                  <a:srgbClr val="5C6778"/>
                </a:solidFill>
                <a:latin typeface="Aptos" panose="020B0004020202020204" pitchFamily="34" charset="0"/>
              </a:rPr>
              <a:t>Leadership, Employee ID M101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F29947-AB98-0103-5FE8-6752246072E8}"/>
              </a:ext>
            </a:extLst>
          </p:cNvPr>
          <p:cNvSpPr/>
          <p:nvPr/>
        </p:nvSpPr>
        <p:spPr>
          <a:xfrm>
            <a:off x="457200" y="1676400"/>
            <a:ext cx="55880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75D836-B7BC-57C5-2711-88D915C39AC5}"/>
              </a:ext>
            </a:extLst>
          </p:cNvPr>
          <p:cNvSpPr/>
          <p:nvPr/>
        </p:nvSpPr>
        <p:spPr>
          <a:xfrm>
            <a:off x="457200" y="1676400"/>
            <a:ext cx="5588000" cy="342900"/>
          </a:xfrm>
          <a:prstGeom prst="roundRect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7B0C9C-91FB-3F33-16E0-9CA164AF58A1}"/>
              </a:ext>
            </a:extLst>
          </p:cNvPr>
          <p:cNvSpPr txBox="1"/>
          <p:nvPr/>
        </p:nvSpPr>
        <p:spPr>
          <a:xfrm>
            <a:off x="520700" y="16891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Operations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65C0683-1F4D-1B40-2BD9-2DF612EB2DFE}"/>
              </a:ext>
            </a:extLst>
          </p:cNvPr>
          <p:cNvSpPr/>
          <p:nvPr/>
        </p:nvSpPr>
        <p:spPr>
          <a:xfrm>
            <a:off x="829310" y="2108200"/>
            <a:ext cx="495300" cy="495300"/>
          </a:xfrm>
          <a:prstGeom prst="ellipse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10F7B4-FE89-835F-1CC4-7D8616AE914E}"/>
              </a:ext>
            </a:extLst>
          </p:cNvPr>
          <p:cNvSpPr txBox="1"/>
          <p:nvPr/>
        </p:nvSpPr>
        <p:spPr>
          <a:xfrm>
            <a:off x="546100" y="2628900"/>
            <a:ext cx="10617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700">
                <a:solidFill>
                  <a:srgbClr val="303A4A"/>
                </a:solidFill>
                <a:latin typeface="Aptos" panose="020B0004020202020204" pitchFamily="34" charset="0"/>
              </a:rPr>
              <a:t>Alex Morgan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336226E-0BD0-7318-9CC6-C095E2075417}"/>
              </a:ext>
            </a:extLst>
          </p:cNvPr>
          <p:cNvSpPr/>
          <p:nvPr/>
        </p:nvSpPr>
        <p:spPr>
          <a:xfrm>
            <a:off x="1916430" y="2108200"/>
            <a:ext cx="495300" cy="495300"/>
          </a:xfrm>
          <a:prstGeom prst="ellipse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JB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2C796C-2A62-F99D-628B-5C9216A8656B}"/>
              </a:ext>
            </a:extLst>
          </p:cNvPr>
          <p:cNvSpPr txBox="1"/>
          <p:nvPr/>
        </p:nvSpPr>
        <p:spPr>
          <a:xfrm>
            <a:off x="1633220" y="2628900"/>
            <a:ext cx="10617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700">
                <a:solidFill>
                  <a:srgbClr val="303A4A"/>
                </a:solidFill>
                <a:latin typeface="Aptos" panose="020B0004020202020204" pitchFamily="34" charset="0"/>
              </a:rPr>
              <a:t>Jordan Bell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04B9393-06FF-3B05-87B7-956DFC7CCCB6}"/>
              </a:ext>
            </a:extLst>
          </p:cNvPr>
          <p:cNvSpPr/>
          <p:nvPr/>
        </p:nvSpPr>
        <p:spPr>
          <a:xfrm>
            <a:off x="6146800" y="1676400"/>
            <a:ext cx="55880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CA729BD-D759-1BFF-C347-5F87C4AD8550}"/>
              </a:ext>
            </a:extLst>
          </p:cNvPr>
          <p:cNvSpPr/>
          <p:nvPr/>
        </p:nvSpPr>
        <p:spPr>
          <a:xfrm>
            <a:off x="6146800" y="1676400"/>
            <a:ext cx="5588000" cy="342900"/>
          </a:xfrm>
          <a:prstGeom prst="roundRect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F43BDB-5306-AA2C-ADA6-1FF796988FD3}"/>
              </a:ext>
            </a:extLst>
          </p:cNvPr>
          <p:cNvSpPr txBox="1"/>
          <p:nvPr/>
        </p:nvSpPr>
        <p:spPr>
          <a:xfrm>
            <a:off x="6210300" y="16891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Support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6842404-47AA-7DB4-4FCF-BA627AE008B1}"/>
              </a:ext>
            </a:extLst>
          </p:cNvPr>
          <p:cNvSpPr/>
          <p:nvPr/>
        </p:nvSpPr>
        <p:spPr>
          <a:xfrm>
            <a:off x="6518910" y="2108200"/>
            <a:ext cx="495300" cy="4953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SF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EC10D8-4B80-C28B-1DF8-ABD95FF60AB2}"/>
              </a:ext>
            </a:extLst>
          </p:cNvPr>
          <p:cNvSpPr txBox="1"/>
          <p:nvPr/>
        </p:nvSpPr>
        <p:spPr>
          <a:xfrm>
            <a:off x="6235700" y="2628900"/>
            <a:ext cx="10617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700">
                <a:solidFill>
                  <a:srgbClr val="303A4A"/>
                </a:solidFill>
                <a:latin typeface="Aptos" panose="020B0004020202020204" pitchFamily="34" charset="0"/>
              </a:rPr>
              <a:t>Skyler Fox</a:t>
            </a:r>
          </a:p>
        </p:txBody>
      </p:sp>
    </p:spTree>
    <p:extLst>
      <p:ext uri="{BB962C8B-B14F-4D97-AF65-F5344CB8AC3E}">
        <p14:creationId xmlns:p14="http://schemas.microsoft.com/office/powerpoint/2010/main" val="2971891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B76A43-F180-8A4D-B6E2-1AC07D293F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9525">
            <a:solidFill>
              <a:srgbClr val="F5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225BEB-D85F-5837-A7D6-95C2935ED95F}"/>
              </a:ext>
            </a:extLst>
          </p:cNvPr>
          <p:cNvSpPr txBox="1"/>
          <p:nvPr/>
        </p:nvSpPr>
        <p:spPr>
          <a:xfrm>
            <a:off x="457200" y="1270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172033"/>
                </a:solidFill>
                <a:latin typeface="Aptos" panose="020B0004020202020204" pitchFamily="34" charset="0"/>
              </a:rPr>
              <a:t>Morgan Lee, Future organization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47C001-C70B-B9D3-CC55-D4220AE3DDE1}"/>
              </a:ext>
            </a:extLst>
          </p:cNvPr>
          <p:cNvSpPr txBox="1"/>
          <p:nvPr/>
        </p:nvSpPr>
        <p:spPr>
          <a:xfrm>
            <a:off x="9271000" y="1270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r"/>
            <a:r>
              <a:rPr lang="fr-FR" sz="1400" b="1">
                <a:solidFill>
                  <a:srgbClr val="1B7F45"/>
                </a:solidFill>
                <a:latin typeface="Aptos" panose="020B0004020202020204" pitchFamily="34" charset="0"/>
              </a:rPr>
              <a:t>4 positions, 1 vacant (+1)</a:t>
            </a:r>
            <a:endParaRPr lang="en-US" sz="1400" b="1">
              <a:solidFill>
                <a:srgbClr val="1B7F45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993F99-64C7-15A9-0F88-CFF55C9C6EC8}"/>
              </a:ext>
            </a:extLst>
          </p:cNvPr>
          <p:cNvSpPr/>
          <p:nvPr/>
        </p:nvSpPr>
        <p:spPr>
          <a:xfrm>
            <a:off x="457200" y="635000"/>
            <a:ext cx="112776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773545-E065-74AA-D9C5-D8802FEAE373}"/>
              </a:ext>
            </a:extLst>
          </p:cNvPr>
          <p:cNvSpPr/>
          <p:nvPr/>
        </p:nvSpPr>
        <p:spPr>
          <a:xfrm>
            <a:off x="647700" y="749300"/>
            <a:ext cx="660400" cy="660400"/>
          </a:xfrm>
          <a:prstGeom prst="ellipse">
            <a:avLst/>
          </a:prstGeom>
          <a:solidFill>
            <a:srgbClr val="44546A"/>
          </a:solidFill>
          <a:ln w="9525"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5C92C0-23EA-1F2F-4472-49293F4A2896}"/>
              </a:ext>
            </a:extLst>
          </p:cNvPr>
          <p:cNvSpPr txBox="1"/>
          <p:nvPr/>
        </p:nvSpPr>
        <p:spPr>
          <a:xfrm>
            <a:off x="1511300" y="7239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b="1">
                <a:solidFill>
                  <a:srgbClr val="172033"/>
                </a:solidFill>
                <a:latin typeface="Aptos" panose="020B0004020202020204" pitchFamily="34" charset="0"/>
              </a:rPr>
              <a:t>Morgan Lee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379391-55CB-02C6-B71E-D764A396BDDD}"/>
              </a:ext>
            </a:extLst>
          </p:cNvPr>
          <p:cNvSpPr txBox="1"/>
          <p:nvPr/>
        </p:nvSpPr>
        <p:spPr>
          <a:xfrm>
            <a:off x="1511300" y="10668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900">
                <a:solidFill>
                  <a:srgbClr val="5C6778"/>
                </a:solidFill>
                <a:latin typeface="Aptos" panose="020B0004020202020204" pitchFamily="34" charset="0"/>
              </a:rPr>
              <a:t>Leadership, Employee ID M101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906181-7995-C89A-59AD-AADC6E85E90E}"/>
              </a:ext>
            </a:extLst>
          </p:cNvPr>
          <p:cNvSpPr/>
          <p:nvPr/>
        </p:nvSpPr>
        <p:spPr>
          <a:xfrm>
            <a:off x="457200" y="1676400"/>
            <a:ext cx="55880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C05652-F17E-6181-C4B6-320555EC93A7}"/>
              </a:ext>
            </a:extLst>
          </p:cNvPr>
          <p:cNvSpPr/>
          <p:nvPr/>
        </p:nvSpPr>
        <p:spPr>
          <a:xfrm>
            <a:off x="457200" y="1676400"/>
            <a:ext cx="5588000" cy="342900"/>
          </a:xfrm>
          <a:prstGeom prst="roundRect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AF536E-CDA1-2904-3ACB-1545F173818B}"/>
              </a:ext>
            </a:extLst>
          </p:cNvPr>
          <p:cNvSpPr txBox="1"/>
          <p:nvPr/>
        </p:nvSpPr>
        <p:spPr>
          <a:xfrm>
            <a:off x="520700" y="16891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Operations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2F21536-DA27-1DA9-3971-A1BB4AED09DD}"/>
              </a:ext>
            </a:extLst>
          </p:cNvPr>
          <p:cNvSpPr/>
          <p:nvPr/>
        </p:nvSpPr>
        <p:spPr>
          <a:xfrm>
            <a:off x="829310" y="2108200"/>
            <a:ext cx="495300" cy="495300"/>
          </a:xfrm>
          <a:prstGeom prst="ellipse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JB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83F4DF-B3F3-B9BD-CD56-5830A46550D8}"/>
              </a:ext>
            </a:extLst>
          </p:cNvPr>
          <p:cNvSpPr txBox="1"/>
          <p:nvPr/>
        </p:nvSpPr>
        <p:spPr>
          <a:xfrm>
            <a:off x="546100" y="2628900"/>
            <a:ext cx="10617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700">
                <a:solidFill>
                  <a:srgbClr val="303A4A"/>
                </a:solidFill>
                <a:latin typeface="Aptos" panose="020B0004020202020204" pitchFamily="34" charset="0"/>
              </a:rPr>
              <a:t>Jordan Bell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4E6287-B602-1781-2577-FDA094A6F9CD}"/>
              </a:ext>
            </a:extLst>
          </p:cNvPr>
          <p:cNvSpPr/>
          <p:nvPr/>
        </p:nvSpPr>
        <p:spPr>
          <a:xfrm>
            <a:off x="6146800" y="1676400"/>
            <a:ext cx="55880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C0E3CAC-6D3F-A07D-CF98-D3AA23659F7E}"/>
              </a:ext>
            </a:extLst>
          </p:cNvPr>
          <p:cNvSpPr/>
          <p:nvPr/>
        </p:nvSpPr>
        <p:spPr>
          <a:xfrm>
            <a:off x="6146800" y="1676400"/>
            <a:ext cx="5588000" cy="342900"/>
          </a:xfrm>
          <a:prstGeom prst="roundRect">
            <a:avLst/>
          </a:prstGeom>
          <a:solidFill>
            <a:srgbClr val="70AD47"/>
          </a:solidFill>
          <a:ln w="9525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D56B81-3285-3F6F-92D3-D6A313E0BF41}"/>
              </a:ext>
            </a:extLst>
          </p:cNvPr>
          <p:cNvSpPr txBox="1"/>
          <p:nvPr/>
        </p:nvSpPr>
        <p:spPr>
          <a:xfrm>
            <a:off x="6210300" y="16891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Technical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AF70877-0C48-C7A5-FB31-C8B566EA076D}"/>
              </a:ext>
            </a:extLst>
          </p:cNvPr>
          <p:cNvSpPr/>
          <p:nvPr/>
        </p:nvSpPr>
        <p:spPr>
          <a:xfrm>
            <a:off x="6518910" y="2108200"/>
            <a:ext cx="495300" cy="495300"/>
          </a:xfrm>
          <a:prstGeom prst="ellipse">
            <a:avLst/>
          </a:prstGeom>
          <a:solidFill>
            <a:srgbClr val="70AD47"/>
          </a:solidFill>
          <a:ln w="9525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CY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6C78D9-BE26-E2E3-3745-5DA681D5CFF7}"/>
              </a:ext>
            </a:extLst>
          </p:cNvPr>
          <p:cNvSpPr txBox="1"/>
          <p:nvPr/>
        </p:nvSpPr>
        <p:spPr>
          <a:xfrm>
            <a:off x="6235700" y="2628900"/>
            <a:ext cx="10617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700">
                <a:solidFill>
                  <a:srgbClr val="303A4A"/>
                </a:solidFill>
                <a:latin typeface="Aptos" panose="020B0004020202020204" pitchFamily="34" charset="0"/>
              </a:rPr>
              <a:t>Cameron Young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2D5D95B-2293-62B3-B44B-7636541AFAA6}"/>
              </a:ext>
            </a:extLst>
          </p:cNvPr>
          <p:cNvSpPr/>
          <p:nvPr/>
        </p:nvSpPr>
        <p:spPr>
          <a:xfrm>
            <a:off x="7606030" y="2108200"/>
            <a:ext cx="495300" cy="495300"/>
          </a:xfrm>
          <a:prstGeom prst="ellipse">
            <a:avLst/>
          </a:prstGeom>
          <a:solidFill>
            <a:srgbClr val="70AD47"/>
          </a:solidFill>
          <a:ln w="9525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CP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6FFA0D-108E-1D28-3297-1744A289011C}"/>
              </a:ext>
            </a:extLst>
          </p:cNvPr>
          <p:cNvSpPr txBox="1"/>
          <p:nvPr/>
        </p:nvSpPr>
        <p:spPr>
          <a:xfrm>
            <a:off x="7322820" y="2628900"/>
            <a:ext cx="10617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700">
                <a:solidFill>
                  <a:srgbClr val="303A4A"/>
                </a:solidFill>
                <a:latin typeface="Aptos" panose="020B0004020202020204" pitchFamily="34" charset="0"/>
              </a:rPr>
              <a:t>Casey Park</a:t>
            </a:r>
          </a:p>
        </p:txBody>
      </p:sp>
      <p:sp>
        <p:nvSpPr>
          <p:cNvPr id="21" name="Oval 20" descr="PCN: PCN-2199&#10;Approved opening. Recruiting has not started.">
            <a:hlinkHover r:id="rId2" action="ppaction://hlinksldjump" tooltip="PCN: PCN-2199&#10;Approved opening. Recruiting has not started."/>
            <a:extLst>
              <a:ext uri="{FF2B5EF4-FFF2-40B4-BE49-F238E27FC236}">
                <a16:creationId xmlns:a16="http://schemas.microsoft.com/office/drawing/2014/main" id="{BA4971F4-C10A-CC76-DE7A-8A9482733A8D}"/>
              </a:ext>
            </a:extLst>
          </p:cNvPr>
          <p:cNvSpPr/>
          <p:nvPr/>
        </p:nvSpPr>
        <p:spPr>
          <a:xfrm>
            <a:off x="8693150" y="2108200"/>
            <a:ext cx="495300" cy="4953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6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D62828"/>
                </a:solidFill>
                <a:latin typeface="Aptos" panose="020B0004020202020204" pitchFamily="34" charset="0"/>
              </a:rPr>
              <a:t>REQ</a:t>
            </a:r>
          </a:p>
        </p:txBody>
      </p:sp>
      <p:sp>
        <p:nvSpPr>
          <p:cNvPr id="22" name="TextBox 21" descr="PCN: PCN-2199&#10;Approved opening. Recruiting has not started.">
            <a:hlinkHover r:id="rId2" action="ppaction://hlinksldjump" tooltip="PCN: PCN-2199&#10;Approved opening. Recruiting has not started."/>
            <a:extLst>
              <a:ext uri="{FF2B5EF4-FFF2-40B4-BE49-F238E27FC236}">
                <a16:creationId xmlns:a16="http://schemas.microsoft.com/office/drawing/2014/main" id="{1B77EA37-57E3-DC57-BFFD-04EFEED637F1}"/>
              </a:ext>
            </a:extLst>
          </p:cNvPr>
          <p:cNvSpPr txBox="1"/>
          <p:nvPr/>
        </p:nvSpPr>
        <p:spPr>
          <a:xfrm>
            <a:off x="8409940" y="2628900"/>
            <a:ext cx="10617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700">
                <a:solidFill>
                  <a:srgbClr val="303A4A"/>
                </a:solidFill>
                <a:latin typeface="Aptos" panose="020B0004020202020204" pitchFamily="34" charset="0"/>
              </a:rPr>
              <a:t>PCN-2199</a:t>
            </a:r>
          </a:p>
        </p:txBody>
      </p:sp>
    </p:spTree>
    <p:extLst>
      <p:ext uri="{BB962C8B-B14F-4D97-AF65-F5344CB8AC3E}">
        <p14:creationId xmlns:p14="http://schemas.microsoft.com/office/powerpoint/2010/main" val="4127542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E74C14-8C92-BCA8-F197-FF46A30E91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9525">
            <a:solidFill>
              <a:srgbClr val="F5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7D9491-96B8-3877-4255-C10BC115FE45}"/>
              </a:ext>
            </a:extLst>
          </p:cNvPr>
          <p:cNvSpPr txBox="1"/>
          <p:nvPr/>
        </p:nvSpPr>
        <p:spPr>
          <a:xfrm>
            <a:off x="457200" y="1270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172033"/>
                </a:solidFill>
                <a:latin typeface="Aptos" panose="020B0004020202020204" pitchFamily="34" charset="0"/>
              </a:rPr>
              <a:t>Robin Gray, Current organization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6AFEE-C8A5-B9BC-9AF9-7CD7EED2DAFA}"/>
              </a:ext>
            </a:extLst>
          </p:cNvPr>
          <p:cNvSpPr txBox="1"/>
          <p:nvPr/>
        </p:nvSpPr>
        <p:spPr>
          <a:xfrm>
            <a:off x="9271000" y="1270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r"/>
            <a:r>
              <a:rPr lang="en-US" sz="1400" b="1">
                <a:solidFill>
                  <a:srgbClr val="445064"/>
                </a:solidFill>
                <a:latin typeface="Aptos" panose="020B0004020202020204" pitchFamily="34" charset="0"/>
              </a:rPr>
              <a:t>1 employee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6C8514-8036-1693-E1FC-37A4080DC85A}"/>
              </a:ext>
            </a:extLst>
          </p:cNvPr>
          <p:cNvSpPr/>
          <p:nvPr/>
        </p:nvSpPr>
        <p:spPr>
          <a:xfrm>
            <a:off x="457200" y="635000"/>
            <a:ext cx="112776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9383A06-D972-B9A9-4C4B-ED95F44234AB}"/>
              </a:ext>
            </a:extLst>
          </p:cNvPr>
          <p:cNvSpPr/>
          <p:nvPr/>
        </p:nvSpPr>
        <p:spPr>
          <a:xfrm>
            <a:off x="647700" y="749300"/>
            <a:ext cx="660400" cy="660400"/>
          </a:xfrm>
          <a:prstGeom prst="ellipse">
            <a:avLst/>
          </a:prstGeom>
          <a:solidFill>
            <a:srgbClr val="44546A"/>
          </a:solidFill>
          <a:ln w="9525"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RG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C499FF-3ADB-BAAC-3F1E-F2B3512AEFF2}"/>
              </a:ext>
            </a:extLst>
          </p:cNvPr>
          <p:cNvSpPr txBox="1"/>
          <p:nvPr/>
        </p:nvSpPr>
        <p:spPr>
          <a:xfrm>
            <a:off x="1511300" y="7239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b="1">
                <a:solidFill>
                  <a:srgbClr val="172033"/>
                </a:solidFill>
                <a:latin typeface="Aptos" panose="020B0004020202020204" pitchFamily="34" charset="0"/>
              </a:rPr>
              <a:t>Robin Gray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236A2A-F90F-EA90-3093-D840B53CAE42}"/>
              </a:ext>
            </a:extLst>
          </p:cNvPr>
          <p:cNvSpPr txBox="1"/>
          <p:nvPr/>
        </p:nvSpPr>
        <p:spPr>
          <a:xfrm>
            <a:off x="1511300" y="10668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900">
                <a:solidFill>
                  <a:srgbClr val="5C6778"/>
                </a:solidFill>
                <a:latin typeface="Aptos" panose="020B0004020202020204" pitchFamily="34" charset="0"/>
              </a:rPr>
              <a:t>Leadership, Employee ID M103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91E250-4028-0E95-F699-EE39DAED1F74}"/>
              </a:ext>
            </a:extLst>
          </p:cNvPr>
          <p:cNvSpPr/>
          <p:nvPr/>
        </p:nvSpPr>
        <p:spPr>
          <a:xfrm>
            <a:off x="457200" y="1676400"/>
            <a:ext cx="112776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D41059-3E1D-30EF-1787-E067EA3E9A27}"/>
              </a:ext>
            </a:extLst>
          </p:cNvPr>
          <p:cNvSpPr/>
          <p:nvPr/>
        </p:nvSpPr>
        <p:spPr>
          <a:xfrm>
            <a:off x="457200" y="1676400"/>
            <a:ext cx="11277600" cy="342900"/>
          </a:xfrm>
          <a:prstGeom prst="roundRect">
            <a:avLst/>
          </a:prstGeom>
          <a:solidFill>
            <a:srgbClr val="70AD47"/>
          </a:solidFill>
          <a:ln w="9525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C379A-6A81-89BB-F544-8D7B5B7323F7}"/>
              </a:ext>
            </a:extLst>
          </p:cNvPr>
          <p:cNvSpPr txBox="1"/>
          <p:nvPr/>
        </p:nvSpPr>
        <p:spPr>
          <a:xfrm>
            <a:off x="520700" y="1689100"/>
            <a:ext cx="1115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Technical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85230F-87F9-079E-FC02-2AEE93A44804}"/>
              </a:ext>
            </a:extLst>
          </p:cNvPr>
          <p:cNvSpPr/>
          <p:nvPr/>
        </p:nvSpPr>
        <p:spPr>
          <a:xfrm>
            <a:off x="1398270" y="2108200"/>
            <a:ext cx="495300" cy="495300"/>
          </a:xfrm>
          <a:prstGeom prst="ellipse">
            <a:avLst/>
          </a:prstGeom>
          <a:solidFill>
            <a:srgbClr val="70AD47"/>
          </a:solidFill>
          <a:ln w="9525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CY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78D2F4-683E-EBD8-08EC-F13E3C4ECF0A}"/>
              </a:ext>
            </a:extLst>
          </p:cNvPr>
          <p:cNvSpPr txBox="1"/>
          <p:nvPr/>
        </p:nvSpPr>
        <p:spPr>
          <a:xfrm>
            <a:off x="546100" y="2628900"/>
            <a:ext cx="2199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700">
                <a:solidFill>
                  <a:srgbClr val="303A4A"/>
                </a:solidFill>
                <a:latin typeface="Aptos" panose="020B0004020202020204" pitchFamily="34" charset="0"/>
              </a:rPr>
              <a:t>Cameron Young</a:t>
            </a:r>
          </a:p>
        </p:txBody>
      </p:sp>
    </p:spTree>
    <p:extLst>
      <p:ext uri="{BB962C8B-B14F-4D97-AF65-F5344CB8AC3E}">
        <p14:creationId xmlns:p14="http://schemas.microsoft.com/office/powerpoint/2010/main" val="1564963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612350-14EF-AA87-A7C1-1E8D81F89D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9525">
            <a:solidFill>
              <a:srgbClr val="F5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DB0CBF-73F8-08FF-E17B-32D2D7F51F67}"/>
              </a:ext>
            </a:extLst>
          </p:cNvPr>
          <p:cNvSpPr txBox="1"/>
          <p:nvPr/>
        </p:nvSpPr>
        <p:spPr>
          <a:xfrm>
            <a:off x="457200" y="1270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172033"/>
                </a:solidFill>
                <a:latin typeface="Aptos" panose="020B0004020202020204" pitchFamily="34" charset="0"/>
              </a:rPr>
              <a:t>Robin Gray, Future organization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E09FE6-95A9-AA0C-D9C7-80BF73922B8C}"/>
              </a:ext>
            </a:extLst>
          </p:cNvPr>
          <p:cNvSpPr txBox="1"/>
          <p:nvPr/>
        </p:nvSpPr>
        <p:spPr>
          <a:xfrm>
            <a:off x="9271000" y="1270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r"/>
            <a:r>
              <a:rPr lang="en-US" sz="1400" b="1">
                <a:solidFill>
                  <a:srgbClr val="445064"/>
                </a:solidFill>
                <a:latin typeface="Aptos" panose="020B0004020202020204" pitchFamily="34" charset="0"/>
              </a:rPr>
              <a:t>1 employee (0 vs current)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BFD55F-9722-351A-57B2-0EAE8EF2F73C}"/>
              </a:ext>
            </a:extLst>
          </p:cNvPr>
          <p:cNvSpPr/>
          <p:nvPr/>
        </p:nvSpPr>
        <p:spPr>
          <a:xfrm>
            <a:off x="457200" y="635000"/>
            <a:ext cx="112776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95BAB12-9E54-4E57-E5DC-15EDDE8AF1C4}"/>
              </a:ext>
            </a:extLst>
          </p:cNvPr>
          <p:cNvSpPr/>
          <p:nvPr/>
        </p:nvSpPr>
        <p:spPr>
          <a:xfrm>
            <a:off x="647700" y="749300"/>
            <a:ext cx="660400" cy="660400"/>
          </a:xfrm>
          <a:prstGeom prst="ellipse">
            <a:avLst/>
          </a:prstGeom>
          <a:solidFill>
            <a:srgbClr val="44546A"/>
          </a:solidFill>
          <a:ln w="9525"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RG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222587-7260-EA57-2EAF-BA2DF29ACC70}"/>
              </a:ext>
            </a:extLst>
          </p:cNvPr>
          <p:cNvSpPr txBox="1"/>
          <p:nvPr/>
        </p:nvSpPr>
        <p:spPr>
          <a:xfrm>
            <a:off x="1511300" y="7239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b="1">
                <a:solidFill>
                  <a:srgbClr val="172033"/>
                </a:solidFill>
                <a:latin typeface="Aptos" panose="020B0004020202020204" pitchFamily="34" charset="0"/>
              </a:rPr>
              <a:t>Robin Gray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394E89-0200-6C05-D3E1-B13C1055F543}"/>
              </a:ext>
            </a:extLst>
          </p:cNvPr>
          <p:cNvSpPr txBox="1"/>
          <p:nvPr/>
        </p:nvSpPr>
        <p:spPr>
          <a:xfrm>
            <a:off x="1511300" y="10668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900">
                <a:solidFill>
                  <a:srgbClr val="5C6778"/>
                </a:solidFill>
                <a:latin typeface="Aptos" panose="020B0004020202020204" pitchFamily="34" charset="0"/>
              </a:rPr>
              <a:t>Leadership, Employee ID M103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722EBCD-1901-DD39-E509-9B53786EA6AA}"/>
              </a:ext>
            </a:extLst>
          </p:cNvPr>
          <p:cNvSpPr/>
          <p:nvPr/>
        </p:nvSpPr>
        <p:spPr>
          <a:xfrm>
            <a:off x="457200" y="1676400"/>
            <a:ext cx="112776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4B52960-E2FC-2FBE-FBF7-0D30BE8EC1E3}"/>
              </a:ext>
            </a:extLst>
          </p:cNvPr>
          <p:cNvSpPr/>
          <p:nvPr/>
        </p:nvSpPr>
        <p:spPr>
          <a:xfrm>
            <a:off x="457200" y="1676400"/>
            <a:ext cx="11277600" cy="342900"/>
          </a:xfrm>
          <a:prstGeom prst="roundRect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F53876-03C1-C14D-B485-C9A6299EE04F}"/>
              </a:ext>
            </a:extLst>
          </p:cNvPr>
          <p:cNvSpPr txBox="1"/>
          <p:nvPr/>
        </p:nvSpPr>
        <p:spPr>
          <a:xfrm>
            <a:off x="520700" y="1689100"/>
            <a:ext cx="1115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Support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A50B58-5F06-A4D2-A6CB-9C0E109E242F}"/>
              </a:ext>
            </a:extLst>
          </p:cNvPr>
          <p:cNvSpPr/>
          <p:nvPr/>
        </p:nvSpPr>
        <p:spPr>
          <a:xfrm>
            <a:off x="1398270" y="2108200"/>
            <a:ext cx="495300" cy="4953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SF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F22AC4-1141-3AA5-90B4-D03344309379}"/>
              </a:ext>
            </a:extLst>
          </p:cNvPr>
          <p:cNvSpPr txBox="1"/>
          <p:nvPr/>
        </p:nvSpPr>
        <p:spPr>
          <a:xfrm>
            <a:off x="546100" y="2628900"/>
            <a:ext cx="2199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700">
                <a:solidFill>
                  <a:srgbClr val="303A4A"/>
                </a:solidFill>
                <a:latin typeface="Aptos" panose="020B0004020202020204" pitchFamily="34" charset="0"/>
              </a:rPr>
              <a:t>Skyler Fox</a:t>
            </a:r>
          </a:p>
        </p:txBody>
      </p:sp>
    </p:spTree>
    <p:extLst>
      <p:ext uri="{BB962C8B-B14F-4D97-AF65-F5344CB8AC3E}">
        <p14:creationId xmlns:p14="http://schemas.microsoft.com/office/powerpoint/2010/main" val="3091407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F910F7-E9CB-FAC3-6206-5A650A9C90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9525">
            <a:solidFill>
              <a:srgbClr val="F5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C7EC88-9994-9EBE-983A-8A61B1471F2C}"/>
              </a:ext>
            </a:extLst>
          </p:cNvPr>
          <p:cNvSpPr txBox="1"/>
          <p:nvPr/>
        </p:nvSpPr>
        <p:spPr>
          <a:xfrm>
            <a:off x="457200" y="1270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172033"/>
                </a:solidFill>
                <a:latin typeface="Aptos" panose="020B0004020202020204" pitchFamily="34" charset="0"/>
              </a:rPr>
              <a:t>Taylor Quinn, Current organization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CC3A5-88AC-FD98-659B-433FA721F346}"/>
              </a:ext>
            </a:extLst>
          </p:cNvPr>
          <p:cNvSpPr txBox="1"/>
          <p:nvPr/>
        </p:nvSpPr>
        <p:spPr>
          <a:xfrm>
            <a:off x="9271000" y="1270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r"/>
            <a:r>
              <a:rPr lang="en-US" sz="1400" b="1">
                <a:solidFill>
                  <a:srgbClr val="445064"/>
                </a:solidFill>
                <a:latin typeface="Aptos" panose="020B0004020202020204" pitchFamily="34" charset="0"/>
              </a:rPr>
              <a:t>1 employee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8DC273A-93BB-26AC-A4BD-D15585075906}"/>
              </a:ext>
            </a:extLst>
          </p:cNvPr>
          <p:cNvSpPr/>
          <p:nvPr/>
        </p:nvSpPr>
        <p:spPr>
          <a:xfrm>
            <a:off x="457200" y="635000"/>
            <a:ext cx="112776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0C87F56-ABA7-2664-FEBA-3A08A0C95186}"/>
              </a:ext>
            </a:extLst>
          </p:cNvPr>
          <p:cNvSpPr/>
          <p:nvPr/>
        </p:nvSpPr>
        <p:spPr>
          <a:xfrm>
            <a:off x="647700" y="749300"/>
            <a:ext cx="660400" cy="660400"/>
          </a:xfrm>
          <a:prstGeom prst="ellipse">
            <a:avLst/>
          </a:prstGeom>
          <a:solidFill>
            <a:srgbClr val="44546A"/>
          </a:solidFill>
          <a:ln w="9525"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TQ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76458-AD85-8EDA-8054-D8AF985690B7}"/>
              </a:ext>
            </a:extLst>
          </p:cNvPr>
          <p:cNvSpPr txBox="1"/>
          <p:nvPr/>
        </p:nvSpPr>
        <p:spPr>
          <a:xfrm>
            <a:off x="1511300" y="7239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b="1">
                <a:solidFill>
                  <a:srgbClr val="172033"/>
                </a:solidFill>
                <a:latin typeface="Aptos" panose="020B0004020202020204" pitchFamily="34" charset="0"/>
              </a:rPr>
              <a:t>Taylor Quinn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9C6069-B68D-1A92-6876-0AD20D71648C}"/>
              </a:ext>
            </a:extLst>
          </p:cNvPr>
          <p:cNvSpPr txBox="1"/>
          <p:nvPr/>
        </p:nvSpPr>
        <p:spPr>
          <a:xfrm>
            <a:off x="1511300" y="10668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900">
                <a:solidFill>
                  <a:srgbClr val="5C6778"/>
                </a:solidFill>
                <a:latin typeface="Aptos" panose="020B0004020202020204" pitchFamily="34" charset="0"/>
              </a:rPr>
              <a:t>Leadership, Employee ID M102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A0A1709-2C73-ACDC-DFC5-F183368387E0}"/>
              </a:ext>
            </a:extLst>
          </p:cNvPr>
          <p:cNvSpPr/>
          <p:nvPr/>
        </p:nvSpPr>
        <p:spPr>
          <a:xfrm>
            <a:off x="457200" y="1676400"/>
            <a:ext cx="112776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E8EE46-3083-3776-F1E0-DD6A20EAB46B}"/>
              </a:ext>
            </a:extLst>
          </p:cNvPr>
          <p:cNvSpPr/>
          <p:nvPr/>
        </p:nvSpPr>
        <p:spPr>
          <a:xfrm>
            <a:off x="457200" y="1676400"/>
            <a:ext cx="11277600" cy="342900"/>
          </a:xfrm>
          <a:prstGeom prst="roundRect">
            <a:avLst/>
          </a:prstGeom>
          <a:solidFill>
            <a:srgbClr val="70AD47"/>
          </a:solidFill>
          <a:ln w="9525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317981-F7EE-CFB0-3D34-1675B1EF6E76}"/>
              </a:ext>
            </a:extLst>
          </p:cNvPr>
          <p:cNvSpPr txBox="1"/>
          <p:nvPr/>
        </p:nvSpPr>
        <p:spPr>
          <a:xfrm>
            <a:off x="520700" y="1689100"/>
            <a:ext cx="1115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Technical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3F88EA1-8B6B-B6EC-D077-888D5CBB4B1E}"/>
              </a:ext>
            </a:extLst>
          </p:cNvPr>
          <p:cNvSpPr/>
          <p:nvPr/>
        </p:nvSpPr>
        <p:spPr>
          <a:xfrm>
            <a:off x="1398270" y="2108200"/>
            <a:ext cx="495300" cy="495300"/>
          </a:xfrm>
          <a:prstGeom prst="ellipse">
            <a:avLst/>
          </a:prstGeom>
          <a:solidFill>
            <a:srgbClr val="70AD47"/>
          </a:solidFill>
          <a:ln w="9525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CP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EC696E-05C4-6981-2109-BDB2897F63AC}"/>
              </a:ext>
            </a:extLst>
          </p:cNvPr>
          <p:cNvSpPr txBox="1"/>
          <p:nvPr/>
        </p:nvSpPr>
        <p:spPr>
          <a:xfrm>
            <a:off x="546100" y="2628900"/>
            <a:ext cx="2199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700">
                <a:solidFill>
                  <a:srgbClr val="303A4A"/>
                </a:solidFill>
                <a:latin typeface="Aptos" panose="020B0004020202020204" pitchFamily="34" charset="0"/>
              </a:rPr>
              <a:t>Casey Park</a:t>
            </a:r>
          </a:p>
        </p:txBody>
      </p:sp>
    </p:spTree>
    <p:extLst>
      <p:ext uri="{BB962C8B-B14F-4D97-AF65-F5344CB8AC3E}">
        <p14:creationId xmlns:p14="http://schemas.microsoft.com/office/powerpoint/2010/main" val="111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062805-6007-00A8-6947-4B6477EF73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9525">
            <a:solidFill>
              <a:srgbClr val="F5F7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09172B-EAAA-BEAF-EC02-D18215A3B9A0}"/>
              </a:ext>
            </a:extLst>
          </p:cNvPr>
          <p:cNvSpPr txBox="1"/>
          <p:nvPr/>
        </p:nvSpPr>
        <p:spPr>
          <a:xfrm>
            <a:off x="457200" y="1270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172033"/>
                </a:solidFill>
                <a:latin typeface="Aptos" panose="020B0004020202020204" pitchFamily="34" charset="0"/>
              </a:rPr>
              <a:t>Taylor Quinn, Future organization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391364-D86B-78AD-6348-B7AABF1CA9ED}"/>
              </a:ext>
            </a:extLst>
          </p:cNvPr>
          <p:cNvSpPr txBox="1"/>
          <p:nvPr/>
        </p:nvSpPr>
        <p:spPr>
          <a:xfrm>
            <a:off x="9271000" y="1270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r"/>
            <a:r>
              <a:rPr lang="en-US" sz="1400" b="1">
                <a:solidFill>
                  <a:srgbClr val="445064"/>
                </a:solidFill>
                <a:latin typeface="Aptos" panose="020B0004020202020204" pitchFamily="34" charset="0"/>
              </a:rPr>
              <a:t>1 employee (0 vs current)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963BC0-5DA5-408C-034D-AB1DFDEA20BA}"/>
              </a:ext>
            </a:extLst>
          </p:cNvPr>
          <p:cNvSpPr/>
          <p:nvPr/>
        </p:nvSpPr>
        <p:spPr>
          <a:xfrm>
            <a:off x="457200" y="635000"/>
            <a:ext cx="112776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26FF5C-9127-793C-C852-B3411B911A9D}"/>
              </a:ext>
            </a:extLst>
          </p:cNvPr>
          <p:cNvSpPr/>
          <p:nvPr/>
        </p:nvSpPr>
        <p:spPr>
          <a:xfrm>
            <a:off x="647700" y="749300"/>
            <a:ext cx="660400" cy="660400"/>
          </a:xfrm>
          <a:prstGeom prst="ellipse">
            <a:avLst/>
          </a:prstGeom>
          <a:solidFill>
            <a:srgbClr val="44546A"/>
          </a:solidFill>
          <a:ln w="9525"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TQ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6BCAC2-59E4-8382-EAEA-3D5DE4B6537F}"/>
              </a:ext>
            </a:extLst>
          </p:cNvPr>
          <p:cNvSpPr txBox="1"/>
          <p:nvPr/>
        </p:nvSpPr>
        <p:spPr>
          <a:xfrm>
            <a:off x="1511300" y="7239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b="1">
                <a:solidFill>
                  <a:srgbClr val="172033"/>
                </a:solidFill>
                <a:latin typeface="Aptos" panose="020B0004020202020204" pitchFamily="34" charset="0"/>
              </a:rPr>
              <a:t>Taylor Quinn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461F04-7D82-0542-881D-1B18FFCC60D3}"/>
              </a:ext>
            </a:extLst>
          </p:cNvPr>
          <p:cNvSpPr txBox="1"/>
          <p:nvPr/>
        </p:nvSpPr>
        <p:spPr>
          <a:xfrm>
            <a:off x="1511300" y="1066800"/>
            <a:ext cx="6642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900">
                <a:solidFill>
                  <a:srgbClr val="5C6778"/>
                </a:solidFill>
                <a:latin typeface="Aptos" panose="020B0004020202020204" pitchFamily="34" charset="0"/>
              </a:rPr>
              <a:t>Leadership, Employee ID M102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6A3201-9FB5-F920-BDDE-FE23F068A2D2}"/>
              </a:ext>
            </a:extLst>
          </p:cNvPr>
          <p:cNvSpPr/>
          <p:nvPr/>
        </p:nvSpPr>
        <p:spPr>
          <a:xfrm>
            <a:off x="457200" y="1676400"/>
            <a:ext cx="112776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F1169E-9E73-4E2D-99CD-2B8E3E360EEB}"/>
              </a:ext>
            </a:extLst>
          </p:cNvPr>
          <p:cNvSpPr/>
          <p:nvPr/>
        </p:nvSpPr>
        <p:spPr>
          <a:xfrm>
            <a:off x="457200" y="1676400"/>
            <a:ext cx="11277600" cy="342900"/>
          </a:xfrm>
          <a:prstGeom prst="roundRect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E19826-4B35-290E-EC17-04D6F5C930C3}"/>
              </a:ext>
            </a:extLst>
          </p:cNvPr>
          <p:cNvSpPr txBox="1"/>
          <p:nvPr/>
        </p:nvSpPr>
        <p:spPr>
          <a:xfrm>
            <a:off x="520700" y="1689100"/>
            <a:ext cx="1115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Operations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AB8392-3ED2-2E7A-FFEC-517FE806B817}"/>
              </a:ext>
            </a:extLst>
          </p:cNvPr>
          <p:cNvSpPr/>
          <p:nvPr/>
        </p:nvSpPr>
        <p:spPr>
          <a:xfrm>
            <a:off x="1398270" y="2108200"/>
            <a:ext cx="495300" cy="495300"/>
          </a:xfrm>
          <a:prstGeom prst="ellipse">
            <a:avLst/>
          </a:prstGeom>
          <a:solidFill>
            <a:srgbClr val="5B9BD5"/>
          </a:solidFill>
          <a:ln w="9525"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FEC76D-7188-9B33-041F-CCE3C35CCEC7}"/>
              </a:ext>
            </a:extLst>
          </p:cNvPr>
          <p:cNvSpPr txBox="1"/>
          <p:nvPr/>
        </p:nvSpPr>
        <p:spPr>
          <a:xfrm>
            <a:off x="546100" y="2628900"/>
            <a:ext cx="2199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700">
                <a:solidFill>
                  <a:srgbClr val="303A4A"/>
                </a:solidFill>
                <a:latin typeface="Aptos" panose="020B0004020202020204" pitchFamily="34" charset="0"/>
              </a:rPr>
              <a:t>Alex Morgan</a:t>
            </a:r>
          </a:p>
        </p:txBody>
      </p:sp>
    </p:spTree>
    <p:extLst>
      <p:ext uri="{BB962C8B-B14F-4D97-AF65-F5344CB8AC3E}">
        <p14:creationId xmlns:p14="http://schemas.microsoft.com/office/powerpoint/2010/main" val="894176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</Words>
  <Application>Microsoft Office PowerPoint</Application>
  <PresentationFormat>Custom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Zeni</dc:creator>
  <cp:lastModifiedBy>Sean Zeni</cp:lastModifiedBy>
  <cp:revision>1</cp:revision>
  <dcterms:created xsi:type="dcterms:W3CDTF">2026-10-13T11:25:31Z</dcterms:created>
  <dcterms:modified xsi:type="dcterms:W3CDTF">2026-10-13T11:25:31Z</dcterms:modified>
</cp:coreProperties>
</file>